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0" r:id="rId4"/>
    <p:sldId id="261" r:id="rId5"/>
    <p:sldId id="262" r:id="rId6"/>
    <p:sldId id="264" r:id="rId7"/>
    <p:sldId id="259" r:id="rId8"/>
    <p:sldId id="266" r:id="rId9"/>
    <p:sldId id="267" r:id="rId10"/>
    <p:sldId id="268" r:id="rId11"/>
    <p:sldId id="269" r:id="rId12"/>
    <p:sldId id="270" r:id="rId13"/>
    <p:sldId id="271" r:id="rId14"/>
    <p:sldId id="275" r:id="rId15"/>
    <p:sldId id="276" r:id="rId16"/>
    <p:sldId id="272" r:id="rId17"/>
    <p:sldId id="277" r:id="rId18"/>
    <p:sldId id="273" r:id="rId19"/>
    <p:sldId id="274" r:id="rId20"/>
    <p:sldId id="278" r:id="rId21"/>
    <p:sldId id="279" r:id="rId22"/>
    <p:sldId id="280" r:id="rId23"/>
    <p:sldId id="281" r:id="rId24"/>
    <p:sldId id="282" r:id="rId25"/>
    <p:sldId id="284" r:id="rId26"/>
    <p:sldId id="283" r:id="rId27"/>
    <p:sldId id="28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804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37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67128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3212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821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13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35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43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77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04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429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95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97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F0F0E0A8-05A7-4CBB-8D2F-BFD8E5ACE98A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F15D535-137A-44EC-B146-EA5AE5D059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375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fif"/><Relationship Id="rId5" Type="http://schemas.openxmlformats.org/officeDocument/2006/relationships/image" Target="../media/image6.jfif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fif"/><Relationship Id="rId13" Type="http://schemas.openxmlformats.org/officeDocument/2006/relationships/image" Target="../media/image20.png"/><Relationship Id="rId18" Type="http://schemas.openxmlformats.org/officeDocument/2006/relationships/image" Target="../media/image25.jfif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jfif"/><Relationship Id="rId12" Type="http://schemas.openxmlformats.org/officeDocument/2006/relationships/image" Target="../media/image19.jfif"/><Relationship Id="rId17" Type="http://schemas.openxmlformats.org/officeDocument/2006/relationships/image" Target="../media/image24.jfif"/><Relationship Id="rId25" Type="http://schemas.openxmlformats.org/officeDocument/2006/relationships/image" Target="../media/image32.png"/><Relationship Id="rId2" Type="http://schemas.openxmlformats.org/officeDocument/2006/relationships/image" Target="../media/image9.jfif"/><Relationship Id="rId16" Type="http://schemas.openxmlformats.org/officeDocument/2006/relationships/image" Target="../media/image23.png"/><Relationship Id="rId20" Type="http://schemas.openxmlformats.org/officeDocument/2006/relationships/image" Target="../media/image27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jfif"/><Relationship Id="rId24" Type="http://schemas.openxmlformats.org/officeDocument/2006/relationships/image" Target="../media/image31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jfif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jfif"/><Relationship Id="rId22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fif"/><Relationship Id="rId2" Type="http://schemas.openxmlformats.org/officeDocument/2006/relationships/image" Target="../media/image33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fif"/><Relationship Id="rId2" Type="http://schemas.openxmlformats.org/officeDocument/2006/relationships/image" Target="../media/image35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f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39.jpg"/><Relationship Id="rId7" Type="http://schemas.openxmlformats.org/officeDocument/2006/relationships/image" Target="../media/image43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81C83-A0E4-470B-9657-792108C383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 EXCELÊNCIA NO ATENDIMENTO AO TURISTA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141B2-1935-4D9C-B939-FAF6B5A14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Sara Patrícia- SENAC/PE</a:t>
            </a:r>
          </a:p>
        </p:txBody>
      </p:sp>
    </p:spTree>
    <p:extLst>
      <p:ext uri="{BB962C8B-B14F-4D97-AF65-F5344CB8AC3E}">
        <p14:creationId xmlns:p14="http://schemas.microsoft.com/office/powerpoint/2010/main" val="2118202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34440C-B3DD-4DEB-998C-23F1B712C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17" y="2054088"/>
            <a:ext cx="9329531" cy="31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04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0659" y="284176"/>
            <a:ext cx="11564470" cy="1508760"/>
          </a:xfr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b="1" dirty="0"/>
              <a:t>Minha história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81" y="1898052"/>
            <a:ext cx="3057737" cy="2601520"/>
          </a:xfr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51" r="3024" b="-525"/>
          <a:stretch/>
        </p:blipFill>
        <p:spPr>
          <a:xfrm>
            <a:off x="8319940" y="1898052"/>
            <a:ext cx="3033860" cy="260152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68" y="4706937"/>
            <a:ext cx="2952750" cy="1997688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787" y="4825639"/>
            <a:ext cx="3331674" cy="187898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940" y="4825639"/>
            <a:ext cx="3033859" cy="187898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0160E31-C9F4-4FFE-ABCA-7EBFD7A2A6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897" y="1898052"/>
            <a:ext cx="3033860" cy="260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8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9199" y="365125"/>
            <a:ext cx="11680483" cy="1325563"/>
          </a:xfr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pt-BR" b="1" dirty="0"/>
              <a:t>JÁ MINISTREI CURSOS E PALESTRAS PARA: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41" y="1861422"/>
            <a:ext cx="1778251" cy="941991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49" y="3733601"/>
            <a:ext cx="2388557" cy="63716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098" y="1914927"/>
            <a:ext cx="2381250" cy="97397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54" y="2791610"/>
            <a:ext cx="1778251" cy="918843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65" y="4438601"/>
            <a:ext cx="2143125" cy="85061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39" y="4242265"/>
            <a:ext cx="2143125" cy="973972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72" y="5560235"/>
            <a:ext cx="2665304" cy="11430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289" y="1758633"/>
            <a:ext cx="2143125" cy="1112725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259" y="3677000"/>
            <a:ext cx="1749774" cy="823341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072" y="2813934"/>
            <a:ext cx="2442216" cy="1123909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12" y="5436417"/>
            <a:ext cx="1504674" cy="1262480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250" y="1852274"/>
            <a:ext cx="2145860" cy="999393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100" y="4703415"/>
            <a:ext cx="2106186" cy="1024304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698" y="3011728"/>
            <a:ext cx="2028546" cy="728322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946" y="1707169"/>
            <a:ext cx="1956397" cy="843945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702" y="4194356"/>
            <a:ext cx="1624537" cy="1094860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048" y="5560235"/>
            <a:ext cx="1710062" cy="1271156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947" y="5560235"/>
            <a:ext cx="2417053" cy="1220977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871" y="4242265"/>
            <a:ext cx="2488812" cy="1194152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63" y="5884085"/>
            <a:ext cx="1905000" cy="814812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30" y="2964915"/>
            <a:ext cx="2232248" cy="105717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234" y="2469016"/>
            <a:ext cx="1614068" cy="804684"/>
          </a:xfrm>
          <a:prstGeom prst="rect">
            <a:avLst/>
          </a:prstGeom>
        </p:spPr>
      </p:pic>
      <p:pic>
        <p:nvPicPr>
          <p:cNvPr id="27" name="Imagem 26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700" y="5749250"/>
            <a:ext cx="1137012" cy="1006662"/>
          </a:xfrm>
          <a:prstGeom prst="rect">
            <a:avLst/>
          </a:prstGeom>
        </p:spPr>
      </p:pic>
      <p:pic>
        <p:nvPicPr>
          <p:cNvPr id="28" name="Imagem 27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805" y="3319782"/>
            <a:ext cx="1563335" cy="72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7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30" y="470781"/>
            <a:ext cx="6337426" cy="3983523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509" y="4454304"/>
            <a:ext cx="7595857" cy="215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0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083" y="1014343"/>
            <a:ext cx="5994904" cy="321398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57" y="383783"/>
            <a:ext cx="4226607" cy="258575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771" y="4365812"/>
            <a:ext cx="6590923" cy="180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45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52" y="911944"/>
            <a:ext cx="2619374" cy="185953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853" y="911943"/>
            <a:ext cx="2619375" cy="18478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655" y="973855"/>
            <a:ext cx="2867025" cy="178593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15" y="4725626"/>
            <a:ext cx="3398512" cy="174307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166" y="4768488"/>
            <a:ext cx="3412355" cy="16573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601" y="4725626"/>
            <a:ext cx="3352800" cy="165735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560" y="973855"/>
            <a:ext cx="2486025" cy="1838325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457052" y="3355942"/>
            <a:ext cx="11326453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ATRATIVOS QUE FORMAM O POTENCIAL DO BRASIL PARA O TURISMO E LAZER</a:t>
            </a:r>
          </a:p>
        </p:txBody>
      </p:sp>
    </p:spTree>
    <p:extLst>
      <p:ext uri="{BB962C8B-B14F-4D97-AF65-F5344CB8AC3E}">
        <p14:creationId xmlns:p14="http://schemas.microsoft.com/office/powerpoint/2010/main" val="201473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458" y="772998"/>
            <a:ext cx="8022209" cy="2460396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2130459" y="3233394"/>
            <a:ext cx="8022208" cy="21852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</a:t>
            </a: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HOJE CONSIDERADO UMA DAS ATIVIDADES PRODUTIVAS MAIS IMPORTANTES PARA O DESENVOLVIMENTO DO </a:t>
            </a:r>
            <a:r>
              <a:rPr lang="pt-BR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BRASIL</a:t>
            </a:r>
          </a:p>
        </p:txBody>
      </p:sp>
    </p:spTree>
    <p:extLst>
      <p:ext uri="{BB962C8B-B14F-4D97-AF65-F5344CB8AC3E}">
        <p14:creationId xmlns:p14="http://schemas.microsoft.com/office/powerpoint/2010/main" val="314097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62" y="2941162"/>
            <a:ext cx="5194168" cy="184765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308017" y="1542873"/>
            <a:ext cx="2611224" cy="1754326"/>
          </a:xfrm>
          <a:prstGeom prst="rect">
            <a:avLst/>
          </a:prstGeom>
          <a:solidFill>
            <a:srgbClr val="FF0066"/>
          </a:solidFill>
          <a:ln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Cadeia de atividade do setor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334813" y="340910"/>
            <a:ext cx="5570316" cy="67403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pt-BR" dirty="0"/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Meios de Hospedagem;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Agências de viagens e turismo, e operadoras turísticas;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Serviços de alimentação: restaurantes, lanchonetes, bares, quiosques, padarias </a:t>
            </a:r>
            <a:r>
              <a:rPr lang="pt-B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Parques Temáticos;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Marinas;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Museus e igrejas históricas;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Empreendimentos destinados à realização de eventos e negócios (centro de convenções);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Empreendimentos destinados à prática de turismo de aventura, de esportes radicais e de ecoturismo;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Empreendimentos destinados à promoção turística;</a:t>
            </a:r>
          </a:p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Transportadora turística.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3629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7249212" y="150831"/>
            <a:ext cx="3667027" cy="31014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88" y="150833"/>
            <a:ext cx="2907946" cy="310141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134" y="150833"/>
            <a:ext cx="3728076" cy="3101417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7303291" y="732044"/>
            <a:ext cx="3558867" cy="19389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Brush Script MT" panose="03060802040406070304" pitchFamily="66" charset="0"/>
                <a:cs typeface="Arial" panose="020B0604020202020204" pitchFamily="34" charset="0"/>
              </a:rPr>
              <a:t>Para se trabalhar no Setor de Turismo e Hospitalidade</a:t>
            </a:r>
          </a:p>
        </p:txBody>
      </p:sp>
      <p:sp>
        <p:nvSpPr>
          <p:cNvPr id="6" name="Retângulo 5"/>
          <p:cNvSpPr/>
          <p:nvPr/>
        </p:nvSpPr>
        <p:spPr>
          <a:xfrm>
            <a:off x="613188" y="3503944"/>
            <a:ext cx="10387892" cy="2862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Turismo fecha primeiro semestre criando quase </a:t>
            </a:r>
            <a:r>
              <a:rPr lang="pt-BR" sz="44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100 mil vagas </a:t>
            </a:r>
            <a:r>
              <a:rPr lang="pt-BR" sz="2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empregos. O turismo nacional foi o responsável pela criação de cerca de um a cada dez empregos formais nos primeiros seis meses de </a:t>
            </a:r>
            <a:r>
              <a:rPr lang="pt-BR" sz="44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r>
              <a:rPr lang="pt-BR" sz="2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Ao todo, </a:t>
            </a:r>
            <a:r>
              <a:rPr lang="pt-BR" sz="24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98.675 vagas com carteira assinada foram preenchidas no setor</a:t>
            </a:r>
            <a:r>
              <a:rPr lang="pt-BR" sz="2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44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aquecendo a economia do país</a:t>
            </a:r>
            <a:r>
              <a:rPr lang="pt-BR" sz="32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481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894" y="116541"/>
            <a:ext cx="3797296" cy="6185647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5759777" y="2290713"/>
            <a:ext cx="5373279" cy="2308324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“O Brasil está muito bem posicionado em um item importantíssimo, que é a geração de emprego e renda para nossa economia por meio do turismo”</a:t>
            </a:r>
          </a:p>
          <a:p>
            <a:pPr algn="r"/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Jeanine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Pires –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Presidente da Embratur 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876318" y="5332059"/>
            <a:ext cx="5373279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PRESIDENTE DA EMBRATUR : Marcelo Freixo</a:t>
            </a:r>
          </a:p>
        </p:txBody>
      </p:sp>
    </p:spTree>
    <p:extLst>
      <p:ext uri="{BB962C8B-B14F-4D97-AF65-F5344CB8AC3E}">
        <p14:creationId xmlns:p14="http://schemas.microsoft.com/office/powerpoint/2010/main" val="2896940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637988" y="1282046"/>
            <a:ext cx="6183984" cy="403187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Estudo do IBGE revela que existem </a:t>
            </a:r>
            <a:r>
              <a:rPr lang="pt-BR" sz="3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mais de 31 mil meios de hospedagem no Brasil</a:t>
            </a:r>
            <a:r>
              <a:rPr lang="pt-BR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Encomendado pelo </a:t>
            </a:r>
            <a:r>
              <a:rPr lang="pt-BR" sz="24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MTur</a:t>
            </a:r>
            <a:r>
              <a:rPr lang="pt-BR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(Ministério do Turismo) um estudo feito pelo IBGE (Instituto Brasileiro de Geografia e Estatística) mostra o tamanho da oferta hoteleira do Brasil: </a:t>
            </a:r>
            <a:r>
              <a:rPr lang="pt-BR" sz="3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31.299 meios de hospedagem.</a:t>
            </a: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46" y="1282046"/>
            <a:ext cx="4204354" cy="410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77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582186" y="576954"/>
            <a:ext cx="6231117" cy="707886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ALGUNS CONCEITOS: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613724" y="2083323"/>
            <a:ext cx="9199579" cy="1508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TURISMO: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Segundo a Organização Mundial do Turismo (OMT), são todas as atividades que as pessoas realizam durante suas viagens e estadias em lugares diferentes do seu local de moradia, por período inferior a um ano, com finalidade de lazer, negócios, férias etc.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13723" y="3943754"/>
            <a:ext cx="9199579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HOSPITALIDADE: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No que diz respeito ao Turismo, é tudo aquilo que se faz para  tomar a atitude de satisfazer o cliente, visando sempre seu bem estar. O acolhimento afetuoso pode estar tanto no tratamento oferecido às pessoas quanto no cuidado com o ambiente que as acolhe.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24" y="130797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04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D25CA-DA97-4B78-9647-F7F27524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é atendimento?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75A0D93-420C-46EF-AA98-3295412D3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Google Sans"/>
              </a:rPr>
              <a:t>A</a:t>
            </a:r>
            <a:r>
              <a:rPr lang="pt-BR" sz="3200" b="1" i="0" dirty="0">
                <a:solidFill>
                  <a:schemeClr val="bg1"/>
                </a:solidFill>
                <a:effectLst/>
                <a:latin typeface="Google Sans"/>
              </a:rPr>
              <a:t>to de prestar atenção, cuidar ou dar assistência a alguém ou algo. </a:t>
            </a:r>
          </a:p>
          <a:p>
            <a:r>
              <a:rPr lang="pt-BR" sz="3200" b="1" i="0" dirty="0">
                <a:solidFill>
                  <a:schemeClr val="bg1"/>
                </a:solidFill>
                <a:effectLst/>
                <a:latin typeface="Google Sans"/>
              </a:rPr>
              <a:t>Conjunto de ações e processos que uma empresa utiliza para interagir e se comunicar com seus clientes, com o objetivo de resolver problemas, responder perguntas e garantir a satisfação do cliente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9C9F384-DE6D-4E0C-A082-A780A7C0C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529" y="63308"/>
            <a:ext cx="4482353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48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A5147-61C8-4253-9368-B582C80B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QUEM É O TURISTA?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B73D4D-E05B-47D3-A23C-3B0D22A06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>
                <a:solidFill>
                  <a:srgbClr val="001D35"/>
                </a:solidFill>
                <a:latin typeface="Google Sans"/>
              </a:rPr>
              <a:t>É </a:t>
            </a:r>
            <a:r>
              <a:rPr lang="pt-BR" sz="3600" b="0" i="0" dirty="0">
                <a:solidFill>
                  <a:srgbClr val="001D35"/>
                </a:solidFill>
                <a:effectLst/>
                <a:latin typeface="Google Sans"/>
              </a:rPr>
              <a:t>uma pessoa que viaja para um local diferente de sua residência habitual, geralmente por um período superior a 24 horas, com o propósito de lazer, recreação, cultura, eventos ou descanso. </a:t>
            </a:r>
            <a:endParaRPr lang="pt-BR" sz="3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6CC9F4-17A2-4641-9CA0-04C286790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766" y="154636"/>
            <a:ext cx="4509246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4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F97B6-4989-4535-AF00-A830D8AF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  <a:r>
              <a:rPr lang="pt-BR" b="1" dirty="0"/>
              <a:t>atendimento ao turista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CC5FFE-D60F-4681-93A1-359B25C73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</a:t>
            </a:r>
            <a:r>
              <a:rPr lang="pt-BR" sz="3600" dirty="0"/>
              <a:t>Vai além de "atender bem" – envolve hospitalidade, empatia, agilidade e conhecimento.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162B83-E239-48E7-A497-9804F1EB0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376" y="90818"/>
            <a:ext cx="4025153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24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C32EF-C7B3-43A8-92EE-93F57C44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195000"/>
          </a:xfrm>
        </p:spPr>
        <p:txBody>
          <a:bodyPr/>
          <a:lstStyle/>
          <a:p>
            <a:r>
              <a:rPr lang="pt-BR" b="1" dirty="0"/>
              <a:t>Perfil do Turista Atual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D6B683-F3F6-484C-8C0A-F260004288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542" y="1852643"/>
            <a:ext cx="120754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Tipos de turistas: culturais, ecológicos, gastronômicos, religiosos, </a:t>
            </a:r>
            <a:r>
              <a:rPr lang="pt-BR" altLang="pt-BR" sz="3600" dirty="0">
                <a:latin typeface="Arial" panose="020B0604020202020204" pitchFamily="34" charset="0"/>
              </a:rPr>
              <a:t>estudos, negócios, </a:t>
            </a:r>
            <a:r>
              <a:rPr lang="pt-BR" altLang="pt-BR" sz="3600" dirty="0" err="1">
                <a:latin typeface="Arial" panose="020B0604020202020204" pitchFamily="34" charset="0"/>
              </a:rPr>
              <a:t>saúde,compras</a:t>
            </a:r>
            <a:r>
              <a:rPr lang="pt-BR" altLang="pt-BR" sz="3600" dirty="0">
                <a:latin typeface="Arial" panose="020B0604020202020204" pitchFamily="34" charset="0"/>
              </a:rPr>
              <a:t>, eventos...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Comportamento moderno: conectado, exigente, em busca de experiências autênticas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Expectativas comuns: clareza nas informações, cordialidade, segurança e personalização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D0FA561-5AA6-4014-8853-9EF3A3835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04818"/>
            <a:ext cx="412376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66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00F50D2-BD27-4966-97CF-6AB79E7068F6}"/>
              </a:ext>
            </a:extLst>
          </p:cNvPr>
          <p:cNvSpPr txBox="1"/>
          <p:nvPr/>
        </p:nvSpPr>
        <p:spPr>
          <a:xfrm>
            <a:off x="797859" y="1084730"/>
            <a:ext cx="10820400" cy="477053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FF9900"/>
                </a:solidFill>
              </a:rPr>
              <a:t>TURISTA COMO EMBAIXADOR DO DESTINO</a:t>
            </a:r>
          </a:p>
          <a:p>
            <a:pPr algn="just"/>
            <a:r>
              <a:rPr lang="pt-BR" sz="3200" dirty="0">
                <a:solidFill>
                  <a:srgbClr val="001D35"/>
                </a:solidFill>
                <a:latin typeface="Google Sans"/>
              </a:rPr>
              <a:t>Quando </a:t>
            </a:r>
            <a:r>
              <a:rPr lang="pt-BR" sz="3200" b="0" i="0" dirty="0">
                <a:solidFill>
                  <a:srgbClr val="001D35"/>
                </a:solidFill>
                <a:effectLst/>
                <a:latin typeface="Google Sans"/>
              </a:rPr>
              <a:t>compartilha suas experiências positivas e promove o local de forma autêntica, seja através de redes sociais, conversas com amigos ou recomendações. </a:t>
            </a:r>
          </a:p>
          <a:p>
            <a:pPr algn="just"/>
            <a:r>
              <a:rPr lang="pt-BR" sz="3200" b="0" i="0" dirty="0">
                <a:solidFill>
                  <a:srgbClr val="001D35"/>
                </a:solidFill>
                <a:effectLst/>
                <a:latin typeface="Google Sans"/>
              </a:rPr>
              <a:t>Um guia de turismo também desempenha um papel importante como embaixador, pois é responsável por transmitir informações sobre a cultura local, história e atrativos turísticos, tornando a experiência do visitante mais rica e memorável. </a:t>
            </a:r>
            <a:endParaRPr lang="pt-BR" sz="32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648451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97E01-F8A9-403B-9B88-3594457C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01D35"/>
                </a:solidFill>
                <a:effectLst/>
                <a:latin typeface="Google Sans"/>
              </a:rPr>
              <a:t>O impacto da atuação de embaixadores: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9775C-E110-4913-B820-B1C8FE248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01D35"/>
                </a:solidFill>
                <a:effectLst/>
                <a:latin typeface="Google Sans"/>
              </a:rPr>
              <a:t>Aumento do turismo:</a:t>
            </a:r>
            <a:endParaRPr lang="pt-BR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pt-BR" b="1" i="0" dirty="0">
                <a:effectLst/>
                <a:latin typeface="Google Sans"/>
              </a:rPr>
              <a:t>A promoção positiva do destino através de turistas e guias pode levar a um aumento no número de visitantes.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01D35"/>
                </a:solidFill>
                <a:effectLst/>
                <a:latin typeface="Google Sans"/>
              </a:rPr>
              <a:t>Fortalecimento da imagem do destino:</a:t>
            </a:r>
            <a:endParaRPr lang="pt-BR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pt-BR" b="1" i="0" dirty="0">
                <a:effectLst/>
                <a:latin typeface="Google Sans"/>
              </a:rPr>
              <a:t>A divulgação de experiências autênticas e positivas ajuda a construir uma imagem favorável do destino turístico</a:t>
            </a:r>
            <a:r>
              <a:rPr lang="pt-BR" b="0" i="0" dirty="0">
                <a:solidFill>
                  <a:srgbClr val="545D7E"/>
                </a:solidFill>
                <a:effectLst/>
                <a:latin typeface="Google Sans"/>
              </a:rPr>
              <a:t>. </a:t>
            </a:r>
            <a:endParaRPr lang="pt-BR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01D35"/>
                </a:solidFill>
                <a:effectLst/>
                <a:latin typeface="Google Sans"/>
              </a:rPr>
              <a:t>Desenvolvimento sustentável:</a:t>
            </a:r>
            <a:endParaRPr lang="pt-BR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effectLst/>
                <a:latin typeface="Google Sans"/>
              </a:rPr>
              <a:t>Guias de turismo podem orientar os visitantes sobre práticas sustentáveis, contribuindo para a preservação do meio ambiente e da cultura local. 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7250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A6271-CD76-494A-8177-52D4F3C7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 5 Regras de Ouro no Atendimento ao Turista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93AA78-2CFA-4B05-9016-E7145648B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b="1" dirty="0"/>
              <a:t>1. Sorriso e Acolhimento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A primeira impressão conta muito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Linguagem corporal positiva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r>
              <a:rPr lang="pt-BR" sz="3200" b="1" dirty="0"/>
              <a:t>2. Empatia e Paciência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Lidar com sotaques, culturas e até línguas diferentes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Situações de estresse e cansaço do turista</a:t>
            </a:r>
          </a:p>
          <a:p>
            <a:endParaRPr lang="pt-BR" sz="3200" dirty="0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50717E-1DB6-4320-B113-BD2DEAB7A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272" y="2118192"/>
            <a:ext cx="4277004" cy="25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45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A6271-CD76-494A-8177-52D4F3C7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 5 Regras de Ouro no Atendimento ao Turista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93AA78-2CFA-4B05-9016-E7145648B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B5CDF5-3C62-4ECD-A6E1-731544606306}"/>
              </a:ext>
            </a:extLst>
          </p:cNvPr>
          <p:cNvSpPr txBox="1"/>
          <p:nvPr/>
        </p:nvSpPr>
        <p:spPr>
          <a:xfrm>
            <a:off x="842682" y="2413338"/>
            <a:ext cx="10515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3. Conhecimento Local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Saber indicar atrações, horários, preços, meios de transporte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Ter domínio sobre o básico: localização de pontos turísticos, farmácias, hospitais, bancos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r>
              <a:rPr lang="pt-BR" sz="3200" b="1" dirty="0"/>
              <a:t> 4. Comunicação Eficiente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Falar de forma clara, pausada e objetiva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Utilizar mapas, aplicativos, recursos visuais se necessário</a:t>
            </a:r>
          </a:p>
        </p:txBody>
      </p:sp>
    </p:spTree>
    <p:extLst>
      <p:ext uri="{BB962C8B-B14F-4D97-AF65-F5344CB8AC3E}">
        <p14:creationId xmlns:p14="http://schemas.microsoft.com/office/powerpoint/2010/main" val="2632028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A6271-CD76-494A-8177-52D4F3C7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 5 Regras de Ouro no Atendimento ao Turista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93AA78-2CFA-4B05-9016-E7145648B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B5CDF5-3C62-4ECD-A6E1-731544606306}"/>
              </a:ext>
            </a:extLst>
          </p:cNvPr>
          <p:cNvSpPr txBox="1"/>
          <p:nvPr/>
        </p:nvSpPr>
        <p:spPr>
          <a:xfrm>
            <a:off x="842682" y="2413338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5. Solução de Problemas com Agilidade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Nem sempre tudo sai como o turista espera.</a:t>
            </a:r>
          </a:p>
          <a:p>
            <a:r>
              <a:rPr lang="pt-BR" sz="3200" dirty="0"/>
              <a:t> Saber resolver problemas pode salvar a experiência</a:t>
            </a:r>
          </a:p>
        </p:txBody>
      </p:sp>
    </p:spTree>
    <p:extLst>
      <p:ext uri="{BB962C8B-B14F-4D97-AF65-F5344CB8AC3E}">
        <p14:creationId xmlns:p14="http://schemas.microsoft.com/office/powerpoint/2010/main" val="1256984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66C45-624F-4BB1-AE6B-C3984EA3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Barreiras Culturais e Linguísticas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A18B6E-48FC-4A96-A5BA-202E9C37C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sz="3600" dirty="0"/>
              <a:t>Palavras universais: "Olá", "Obrigado", "Por favor"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600" dirty="0"/>
              <a:t>Dicas básicas de comunicação em inglês e espanhol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600" dirty="0"/>
              <a:t>Ferramentas: Google Tradutor, aplicativos de tradução, linguagem gestual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7355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3B5FD-3271-4129-9C30-AFFDA17F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Papel do Profissional de Atendimento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EE803D-419E-4667-8958-7EE78EC9C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Ser embaixador do seu destino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Promover uma imagem positiva da cidade/país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Trabalhar com paixão e respeito à diversidade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607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4D0E1-6F4B-491C-ACD5-6C3D768751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9952" y="284163"/>
            <a:ext cx="10094259" cy="1508125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Como ser embaixador </a:t>
            </a:r>
            <a:br>
              <a:rPr lang="pt-BR" b="1" dirty="0">
                <a:solidFill>
                  <a:schemeClr val="tx1"/>
                </a:solidFill>
              </a:rPr>
            </a:br>
            <a:r>
              <a:rPr lang="pt-BR" b="1" dirty="0">
                <a:solidFill>
                  <a:schemeClr val="tx1"/>
                </a:solidFill>
              </a:rPr>
              <a:t>de santa maria da boa vista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22BDCA-7B8C-4122-BDA9-027B723F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435" y="2233826"/>
            <a:ext cx="3352800" cy="21457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946C482-D553-49A6-AA50-2B79B57DB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17" y="2189630"/>
            <a:ext cx="3352800" cy="223418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570B668-F87A-49BB-ACA5-3C8362303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306" y="2163363"/>
            <a:ext cx="3352800" cy="223418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5A4A288-F87E-4157-ADAB-9ABA91106907}"/>
              </a:ext>
            </a:extLst>
          </p:cNvPr>
          <p:cNvSpPr txBox="1"/>
          <p:nvPr/>
        </p:nvSpPr>
        <p:spPr>
          <a:xfrm>
            <a:off x="681317" y="4939571"/>
            <a:ext cx="108921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Santa Maria da Boa Vista, no Sertão pernambucano às margens do Rio São Francisco, é um destino turístico que combina paisagens naturais, história, cultura e vinhos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3656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AB64C-F891-4E43-8181-458BF130A8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4762" y="3821907"/>
            <a:ext cx="11245850" cy="1738312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tx1"/>
                </a:solidFill>
              </a:rPr>
              <a:t>"Um turista bem atendido volta, recomenda e contribui para o crescimento do nosso destino."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9F6C4D8-F57F-4CD1-84A6-43C00862F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988" y="161365"/>
            <a:ext cx="6194611" cy="349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6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EA75C91-FA70-4A0F-88B1-EBDA9F7EC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Muito obrigada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685448-61E0-4B5B-86D9-BC2236D29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Até breve</a:t>
            </a:r>
          </a:p>
        </p:txBody>
      </p:sp>
    </p:spTree>
    <p:extLst>
      <p:ext uri="{BB962C8B-B14F-4D97-AF65-F5344CB8AC3E}">
        <p14:creationId xmlns:p14="http://schemas.microsoft.com/office/powerpoint/2010/main" val="1806748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m Tiras">
  <a:themeElements>
    <a:clrScheme name="Em Tiras">
      <a:dk1>
        <a:srgbClr val="2C2C2C"/>
      </a:dk1>
      <a:lt1>
        <a:srgbClr val="FFFFFF"/>
      </a:lt1>
      <a:dk2>
        <a:srgbClr val="F56617"/>
      </a:dk2>
      <a:lt2>
        <a:srgbClr val="DDDDDD"/>
      </a:lt2>
      <a:accent1>
        <a:srgbClr val="FFC000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0"/>
      </a:accent6>
      <a:hlink>
        <a:srgbClr val="FF9933"/>
      </a:hlink>
      <a:folHlink>
        <a:srgbClr val="6C606A"/>
      </a:folHlink>
    </a:clrScheme>
    <a:fontScheme name="Em Tira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m Tira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TM03090430[[fn=Em Tiras]]</Template>
  <TotalTime>85</TotalTime>
  <Words>976</Words>
  <Application>Microsoft Office PowerPoint</Application>
  <PresentationFormat>Widescreen</PresentationFormat>
  <Paragraphs>88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Arial</vt:lpstr>
      <vt:lpstr>Brush Script MT</vt:lpstr>
      <vt:lpstr>Corbel</vt:lpstr>
      <vt:lpstr>Google Sans</vt:lpstr>
      <vt:lpstr>Wingdings</vt:lpstr>
      <vt:lpstr>Em Tiras</vt:lpstr>
      <vt:lpstr> EXCELÊNCIA NO ATENDIMENTO AO TURISTA</vt:lpstr>
      <vt:lpstr>Apresentação do PowerPoint</vt:lpstr>
      <vt:lpstr>Minha história</vt:lpstr>
      <vt:lpstr>JÁ MINISTREI CURSOS E PALESTRAS PARA: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 que é atendimento?</vt:lpstr>
      <vt:lpstr>QUEM É O TURISTA?</vt:lpstr>
      <vt:lpstr> atendimento ao turista</vt:lpstr>
      <vt:lpstr>Perfil do Turista Atual</vt:lpstr>
      <vt:lpstr>Apresentação do PowerPoint</vt:lpstr>
      <vt:lpstr>O impacto da atuação de embaixadores:</vt:lpstr>
      <vt:lpstr>As 5 Regras de Ouro no Atendimento ao Turista</vt:lpstr>
      <vt:lpstr>As 5 Regras de Ouro no Atendimento ao Turista</vt:lpstr>
      <vt:lpstr>As 5 Regras de Ouro no Atendimento ao Turista</vt:lpstr>
      <vt:lpstr>Barreiras Culturais e Linguísticas</vt:lpstr>
      <vt:lpstr>O Papel do Profissional de Atendimento</vt:lpstr>
      <vt:lpstr>Como ser embaixador  de santa maria da boa vista</vt:lpstr>
      <vt:lpstr>"Um turista bem atendido volta, recomenda e contribui para o crescimento do nosso destino."</vt:lpstr>
      <vt:lpstr>Muito obrigada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EXCELÊNCIA NO ATENDIMENTO AO TURISTA</dc:title>
  <dc:creator>Aluno</dc:creator>
  <cp:lastModifiedBy>Aluno</cp:lastModifiedBy>
  <cp:revision>10</cp:revision>
  <dcterms:created xsi:type="dcterms:W3CDTF">2025-07-08T17:00:05Z</dcterms:created>
  <dcterms:modified xsi:type="dcterms:W3CDTF">2025-07-08T18:25:51Z</dcterms:modified>
</cp:coreProperties>
</file>